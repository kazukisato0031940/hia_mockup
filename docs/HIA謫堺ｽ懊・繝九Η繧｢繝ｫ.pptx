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操作マニュアル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健康管理・産業医面談管理 編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健保担当者・人事・産業医・保健師・加入者本人の方へ、日々の業務の流れに沿って画面の使い方を説明します。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ビルド 2.1.0　／　2026年9月16日　　株式会社くすりの窓口　未病予防事業部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本書について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対象読者・お使いいただく前に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ロールとできること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ロール別の画面・操作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ログインと画面の基本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サイドバー・カード・検索条件・ステータスのボタン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HIA総合管理（当社スタッフ）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アカウント発行・機能制御・操作ログ・マスタ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HIA健保管理（健保担当者）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判定マスタ・ダッシュボード・データ取込・疾患予測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32588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人事の運用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ステータスの流れ・加入者健康一覧・案内・対応の履歴・リマインド・労基署報告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28600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産業医の運用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面談対象者一覧・判定・面談結果入力・記名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24612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93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保健師の運用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保健指導と対応の記録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420624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加入者本人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健康マイページ・写真の取込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5166360"/>
            <a:ext cx="548640" cy="548640"/>
          </a:xfrm>
          <a:prstGeom prst="ellipse">
            <a:avLst/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0936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04088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付録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704088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判定区分・ステータス・用語・よくある質問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本書について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本システムは、健診・長時間労働・ストレスチェックを横断して面談が必要な方を抽出し、対応の記録から労基署報告までを1つの流れで支えます。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548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ロール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主に使う方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当社スタッフ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HIA総合管理でアカウント発行・機能制御・マスタ登録を行う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健保担当者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健保で加入者全体の健康管理・判定マスタ・データ取込を行う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企業担当者（人事）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加入者健康一覧で案内・対応の記録・報告書の出力を行う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企業担当者（産業医）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面談対象の承認・就業区分の判定・面談記録・記名を行う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企業担当者（保健師）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保健指導・受診勧奨と対応の記録を行う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加入者本人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健康マイページで結果の確認・写真の取込を行う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68096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お使いいただく前に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画面に出る判定（A〜E）・抽出理由・ステータスは参考情報です。受診の要否や就業上の措置の最終判断は、産業医・医師が行います。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加入者の氏名・健診結果などの個人情報は、業務の目的以外には使わないでください。操作はすべて操作ログに記録されます。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推奨ブラウザは Microsoft Edge／Google Chrome の最新版です。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本書の画面はサンプルデータ（架空の加入者）で撮影しています。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ロールとできること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権限ロールとサブロール（産業医・人事・保健師）で使える画面が決まります。医学的判断は産業医のみで固定です。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280160"/>
                <a:gridCol w="1280160"/>
                <a:gridCol w="128016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画面・操作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健保担当者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保健師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健康管理ダッシュボード／加入者健康一覧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加入者マイページ（対応の履歴・案内メール）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閲覧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本人分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ステータスの変更（対応区分）・産業医へ依頼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面談対象者一覧／承認・就業区分の判定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閲覧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面談結果入力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閲覧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労基署報告（閲覧・出力）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労基署報告への記名（サイン）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メール設定（テンプレート・履歴・リマインド）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データ取込（健診結果・労働時間・ストレスチェック）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判定マスタ／加入者情報などのマスタ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加入者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結果の写真の取込（本人）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7150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FF8E6"/>
          </a:solidFill>
          <a:ln w="9525">
            <a:solidFill>
              <a:srgbClr val="F6E0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5A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ご注意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使える機能はHIA総合管理の「機能制御」で切り替えられます。面談対象の承認・就業区分の判定・面談記録・記名は産業医のみで、設定では変えられません。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ログインと画面の基本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ログイン／サイドバーとカード／検索条件／ステータスのボタン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 ログイン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メールアドレス（ログインID）とパスワードでログインします。</a:t>
            </a:r>
            <a:endParaRPr lang="en-US" sz="1200" dirty="0"/>
          </a:p>
        </p:txBody>
      </p:sp>
      <p:pic>
        <p:nvPicPr>
          <p:cNvPr id="6" name="Image 0" descr="/home/claude/work/manual/img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39003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3900316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363356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ログイン画面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ブラウザで本システムのURLを開き、メールアドレスとパスワードを入力して「ログイン」を押します。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初めての方には、アカウント発行時に案内メールが届きます。メールのリンクからパスワードを設定してください。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ログイン後は、ロールに合わせた最初の画面が開きます（健保担当者・人事・保健師＝健康管理、産業医＝面談対象者一覧、加入者本人＝健康マイページ）。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 画面の作り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左のサイドバーが大きな分類（カテゴリ）、その中のカードが画面です。カードを押すと画面が開き、右上の「戻る」でカードの一覧に戻ります。</a:t>
            </a:r>
            <a:endParaRPr lang="en-US" sz="1200" dirty="0"/>
          </a:p>
        </p:txBody>
      </p:sp>
      <p:pic>
        <p:nvPicPr>
          <p:cNvPr id="6" name="Image 0" descr="/home/claude/work/manual/img/hia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33947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63040"/>
            <a:ext cx="6035040" cy="339471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6304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部品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使い方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検索条件カード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各一覧の上。入力欄は入力が止まると自動で絞り込み、ボタンは押すと絞り込み・再押下で解除。「検索」ボタンはありません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一覧カード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件数と一覧。右上に一括処理・CSV出力などの操作。長い文は2行まで、マウスを乗せると全文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ステータスのボタン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押すとその方の次の手続き（産業医への依頼・案内の送付・判定）が開きます。ラベルだけの列は押せません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見出し帯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マイページ・面談結果入力で、だれの画面かを示します。年度の切り替えもここ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小窓（モーダル）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案内メール・一括処理・確認は画面中央の小窓。「×」または枠の外で閉じます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66928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6F4F1"/>
          </a:solidFill>
          <a:ln w="9525">
            <a:solidFill>
              <a:srgbClr val="B2DFD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入力欄・プルダウンの縦幅は全画面40pxで統一しています。日付の欄はカレンダーから選べます。ブラウザの表示倍率は100%のままでお使いください（90%相当の見え方になるよう調整しています）。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HIA総合管理（当社スタッフ）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アカウントの発行・編集／機能制御／操作ログ／マスタ管理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4.1 アカウントの発行・編集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各健保・企業のアカウントを発行します。企業担当者にはサブロール（産業医・人事・保健師）を付けます。</a:t>
            </a:r>
            <a:endParaRPr lang="en-US" sz="1200" dirty="0"/>
          </a:p>
        </p:txBody>
      </p:sp>
      <p:pic>
        <p:nvPicPr>
          <p:cNvPr id="6" name="Image 0" descr="/home/claude/work/manual/img/accounts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5341419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5341419" cy="384048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30352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アカウントの登録（サブロールの選択）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サイドバー「AC設定」→「アカウント管理」を開き、右上の「新規作成」を押します。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メールアドレス・利用者名を入力し、権限ロール（健保担当者／企業担当者）を選びます。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企業担当者は、サブロール（なし／産業医／人事／保健師）と担当する企業（1社以上）を選びます。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「確認」→「登録」で発行します。案内メールが自動で送られ、ご本人がリンクからパスワードを設定します。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メールが使えない環境では、編集画面の「案内リンクを表示」でリンクをコピーして渡せます。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11277295" cy="594360"/>
          </a:xfrm>
          <a:prstGeom prst="roundRect">
            <a:avLst>
              <a:gd name="adj" fmla="val 12308"/>
            </a:avLst>
          </a:prstGeom>
          <a:solidFill>
            <a:srgbClr val="E6F4F1"/>
          </a:solidFill>
          <a:ln w="9525">
            <a:solidFill>
              <a:srgbClr val="B2DF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562356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産業医＝面談の承認・判定・記録・記名／人事＝取込・配信・対応区分・出力／保健師＝保健指導・対応区分・案内メール（判定は行いません）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4.2 機能制御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ロール・サブロールごとに、使える機能を切り替えます。</a:t>
            </a:r>
            <a:endParaRPr lang="en-US" sz="1200" dirty="0"/>
          </a:p>
        </p:txBody>
      </p:sp>
      <p:pic>
        <p:nvPicPr>
          <p:cNvPr id="6" name="Image 0" descr="/home/claude/work/manual/img/km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39003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3900316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363356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機能制御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サイドバー「AC設定」→「機能制御」を開きます。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行が機能、列がロール・サブロールです。スイッチで使う／使わないを切り替えます。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「対象外」のセルは、そのロールが使わない画面です。医学的判断の機能は産業医のみで固定されています。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「初期値に戻す」でまとめて元に戻せます。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4.3 操作ログ・マスタ管理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操作の記録の確認と、企業・事業所・部署・加入者・検査マスタの登録を行います。</a:t>
            </a:r>
            <a:endParaRPr lang="en-US" sz="1200" dirty="0"/>
          </a:p>
        </p:txBody>
      </p:sp>
      <p:pic>
        <p:nvPicPr>
          <p:cNvPr id="6" name="Image 0" descr="/home/claude/work/manual/img/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486400" cy="3086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63040"/>
            <a:ext cx="5486400" cy="30861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pic>
        <p:nvPicPr>
          <p:cNvPr id="8" name="Image 1" descr="/home/claude/work/manual/img/km_master_crite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486400" cy="30861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463040"/>
            <a:ext cx="5486400" cy="30861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5948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操作ログ管理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45948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検査マスタ（HIA総合管理）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960620"/>
            <a:ext cx="1124712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操作ログ：だれが・いつ・どの画面で・何をしたかを記録します。HIA健保管理側の操作も含みます。期間・利用者・種類で絞り込み、CSVに出力できます。メールの件名・本文は記録しません。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マスタ管理：事業所の名称・所在地・電話番号は、労基署報告の様式にそのまま入ります。検査マスタはHIA健保管理の判定マスタと同じ区分番号・代表コードです。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4.4 健康保険組合一覧・メール設定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健保の登録・権限の切り替えと、案内メールのテンプレート・配信履歴・リマインドの確認を行います。</a:t>
            </a:r>
            <a:endParaRPr lang="en-US" sz="1200" dirty="0"/>
          </a:p>
        </p:txBody>
      </p:sp>
      <p:pic>
        <p:nvPicPr>
          <p:cNvPr id="6" name="Image 0" descr="/home/claude/work/manual/img/km_kenpo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486400" cy="3086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63040"/>
            <a:ext cx="5486400" cy="30861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pic>
        <p:nvPicPr>
          <p:cNvPr id="8" name="Image 1" descr="/home/claude/work/manual/img/km_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4655127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463040"/>
            <a:ext cx="4655127" cy="32004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健康保険組合一覧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メール設定（HIA健保管理の「メール設定」と同じ画面）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康保険組合一覧：サイドバー「健保管理」→「健康保険組合」。登録日・保険者番号・登録企業数・登録医療機関数と、公開・健診代行・保健指導・インフルの権限をスイッチで切り替えます。「サポートログイン」でその健保の画面に入ってサポートできます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設定：サイドバー「AC設定」→「メール設定」。配信設定（テンプレートの編集・差し込み）・配信履歴・リマインドの3つのカードで、HIA健保管理の「メール設定」と同じ内容・同じ操作です（6.6・6.7を参照）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HIA健保管理（健保担当者）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加入者情報／判定マスタ／健康管理ダッシュボード／産業医面談 管理／データ取込／疾患予測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5.1 加入者情報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加入者マスタの登録・編集・CSV取込を行います。</a:t>
            </a:r>
            <a:endParaRPr lang="en-US" sz="1200" dirty="0"/>
          </a:p>
        </p:txBody>
      </p:sp>
      <p:pic>
        <p:nvPicPr>
          <p:cNvPr id="6" name="Image 0" descr="/home/claude/work/manual/img/me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39003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3900316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363356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加入者情報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サイドバー「マスタ」→「加入者情報」を開きます。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「新規登録」で加入者ID（採番）・社員番号・所属・深夜業の区分を登録します。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CSVでまとめて取り込むこともできます（サンプルCSVは画面からダウンロード）。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一覧の「編集」で内容を直します。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5.2 判定マスタ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検査項目ごとに判定区分（A〜E）・性別・下限値・上限値を登録します。初期値は日本人間ドック学会の判定区分（2026年4月1日改定）です。</a:t>
            </a:r>
            <a:endParaRPr lang="en-US" sz="1200" dirty="0"/>
          </a:p>
        </p:txBody>
      </p:sp>
      <p:pic>
        <p:nvPicPr>
          <p:cNvPr id="6" name="Image 0" descr="/home/claude/work/manual/img/crite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486400" cy="3086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63040"/>
            <a:ext cx="5486400" cy="30861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pic>
        <p:nvPicPr>
          <p:cNvPr id="8" name="Image 1" descr="/home/claude/work/manual/img/criteria_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486400" cy="30861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463040"/>
            <a:ext cx="5486400" cy="30861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5948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判定マスタ（一覧）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45948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判定マスタ（編集）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960620"/>
            <a:ext cx="1124712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「マスタ」→「判定マスタ」を開きます。区分番号・検査項目名・代表コードで絞り込めます。企業ごとに変えるときは「対象の企業」を選びます。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判定基準の列の「未設定」「設定済」のボタンを押すと編集画面が開きます。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行を足して判定区分・性別・下限値（以上）・上限値（以下）を入れ、「保存」を押します。範囲が重ならないようにしてください。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5.3 健康管理ダッシュボード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健診判定の内訳・ステータスの内訳・所属ごとの状況をまとめて確認します。</a:t>
            </a:r>
            <a:endParaRPr lang="en-US" sz="1200" dirty="0"/>
          </a:p>
        </p:txBody>
      </p:sp>
      <p:pic>
        <p:nvPicPr>
          <p:cNvPr id="6" name="Image 0" descr="/home/claude/work/manual/img/health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716684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716684" cy="461772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608076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健康管理ダッシュボード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サイドバー「健康管理」→「健康管理ダッシュボード」を開きます。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上段のまとめの数字、中段の月次推移と内訳、下段の所属ごとの状況を確認します。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年度を切り替えて前年度と比べられます。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「加入者健康一覧」に移って、個々の加入者の対応に進みます。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5.4 産業医面談 管理（面談ダッシュボード・健診受診管理）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面談の進み具合と抽出理由の内訳、定期・深夜業の健診の受診状況を確認します。</a:t>
            </a:r>
            <a:endParaRPr lang="en-US" sz="1200" dirty="0"/>
          </a:p>
        </p:txBody>
      </p:sp>
      <p:pic>
        <p:nvPicPr>
          <p:cNvPr id="6" name="Image 0" descr="/home/claude/work/manual/img/oh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655127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63040"/>
            <a:ext cx="4655127" cy="32004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pic>
        <p:nvPicPr>
          <p:cNvPr id="8" name="Image 1" descr="/home/claude/work/manual/img/oh_kensh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486400" cy="30861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463040"/>
            <a:ext cx="5486400" cy="30861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面談ダッシュボード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健診受診管理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面談ダッシュボード：面談候補 → 産業医確認待ち → 承認済 → 勧奨メール → 面談完了 → 労基署報告 の進み具合と、抽出理由の内訳・月次の推移を確認します。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健診受診管理：定期健診・深夜業の特定業務健診の受診状況を確認し、未受診の方の抽出と受診勧奨に使います。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5.5 データ取込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健診結果・労働時間・ストレスチェックのCSVを取り込みます。</a:t>
            </a:r>
            <a:endParaRPr lang="en-US" sz="1200" dirty="0"/>
          </a:p>
        </p:txBody>
      </p:sp>
      <p:pic>
        <p:nvPicPr>
          <p:cNvPr id="6" name="Image 0" descr="/home/claude/work/manual/img/oh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82752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827520" cy="384048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30352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データ取込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サイドバー「インポート」→「データ取込」を開きます。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取り込む種類（健診結果・労働時間・ストレスチェック）のカードでCSVを選び、「取込」を押します。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健診結果は取込時に判定マスタの条件で項目ごとに判定し、総合判定（A〜E）を付けます。健保共通の基準が無い項目は既定値を自動で反映します。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「取込結果の集計」で件数を確認します。判定マスタを変えたあとは「判定マスタを反映」で判定を付け直せます。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11277295" cy="594360"/>
          </a:xfrm>
          <a:prstGeom prst="roundRect">
            <a:avLst>
              <a:gd name="adj" fmla="val 12308"/>
            </a:avLst>
          </a:prstGeom>
          <a:solidFill>
            <a:srgbClr val="E6F4F1"/>
          </a:solidFill>
          <a:ln w="9525">
            <a:solidFill>
              <a:srgbClr val="B2DF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562356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サンプルCSVは取込画面からダウンロードできます。文字コードはUTF-8・Shift_JISのどちらでも取り込めます。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5.6 疾患予測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健診結果から加入者ごとの将来リスクを算出し、集団の傾向と個人の一覧を確認します。</a:t>
            </a:r>
            <a:endParaRPr lang="en-US" sz="1200" dirty="0"/>
          </a:p>
        </p:txBody>
      </p:sp>
      <p:pic>
        <p:nvPicPr>
          <p:cNvPr id="6" name="Image 0" descr="/home/claude/work/manual/img/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43336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4333685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796725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疾患予測ダッシュボード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サイドバー「疾患予測」を開きます。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「集団の傾向」で年度を選び、疾患ごとのリスクの分布を確認します。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「個人の一覧」で高リスクの方を確認し、受診勧奨の対象に加えます。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案内文書の送付は対象者の一覧から行います。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人事の運用（企業担当者・人事）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人事は「健康管理」の加入者健康一覧と加入者マイページで、産業医への依頼・案内の送付・対応の記録を行います。産業医面談 管理の画面は表示されません。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6.1 ステータスの流れ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加入者ごとのステータス（対応区分）は7つ。人事・産業医・本人の操作で自動的に進みます。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2C7A7B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未判定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9464" y="2084832"/>
            <a:ext cx="164592" cy="219456"/>
          </a:xfrm>
          <a:prstGeom prst="rightArrow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「産業医へ依頼」を押す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2C7A7B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産業医依頼中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55464" y="2084832"/>
            <a:ext cx="164592" cy="219456"/>
          </a:xfrm>
          <a:prstGeom prst="rightArrow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産業医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就業区分を判定（承認）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1737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2C7A7B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通常勤務／就業制限／要休業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41464" y="2084832"/>
            <a:ext cx="164592" cy="219456"/>
          </a:xfrm>
          <a:prstGeom prst="rightArrow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ステータスを押して案内メール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0" y="1737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2C7A7B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保健師対応中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27464" y="2084832"/>
            <a:ext cx="164592" cy="219456"/>
          </a:xfrm>
          <a:prstGeom prst="rightArrow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保健師・本人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保健指導／結果の写真を取込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0" y="17373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B5E5C"/>
          </a:solidFill>
          <a:ln w="12700">
            <a:solidFill>
              <a:srgbClr val="1B5E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再検査対応済み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保健師・人事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内容を確認して履歴に残す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21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ステータス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未判定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健診・時間外・ストレスから抽出され、まだ産業医に依頼していない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産業医依頼中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産業医の判定を待っている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通常勤務／就業制限／要休業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産業医が就業区分を判定した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保健師対応中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案内を送り、再検査の受診・結果の提出を待っている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再検査対応済み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本人が結果を提出した（写真の取込）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57200" y="57607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6F4F1"/>
          </a:solidFill>
          <a:ln w="9525">
            <a:solidFill>
              <a:srgbClr val="B2DFD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436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産業医が承認すると、人事・保健師側は自動で「保健師対応中」に変わります。本人がマイページから写真を取り込むと「再検査対応済み」になります。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6.2 加入者健康一覧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加入者一人ひとりの健診・時間外・ストレスの状況と、対応のステータスを確認します。</a:t>
            </a:r>
            <a:endParaRPr lang="en-US" sz="1200" dirty="0"/>
          </a:p>
        </p:txBody>
      </p:sp>
      <p:pic>
        <p:nvPicPr>
          <p:cNvPr id="6" name="Image 0" descr="/home/claude/work/manual/img/hr_health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43336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4333685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796725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加入者健康一覧（人事）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検索条件：加入者ID・社員番号／氏名／部署・事業所／年度。下段のステータス・健診判定はボタンで絞り込み（再押下で解除）。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抽出理由：基準値を超えた検査値・長時間労働・高ストレス。2行まで表示、マウスを乗せると全文。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ステータス：押すと次の手続きが開くボタン。未判定→「産業医へ依頼」、通常勤務／就業制限／要休業→案内メール。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「詳細表示」で加入者マイページへ。「選択メンバーを一括処理」「案内を送付」「対象者出力（CSV）」は一覧の右上。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6.3 案内メールと一括処理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ステータスが「通常勤務／就業制限／要休業」の方へ案内を送ると、ステータスは「保健師対応中」に進みます。</a:t>
            </a:r>
            <a:endParaRPr lang="en-US" sz="1200" dirty="0"/>
          </a:p>
        </p:txBody>
      </p:sp>
      <p:pic>
        <p:nvPicPr>
          <p:cNvPr id="6" name="Image 0" descr="/home/claude/work/manual/img/hr_mail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931920" cy="35332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3931920" cy="3533242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pic>
        <p:nvPicPr>
          <p:cNvPr id="8" name="Image 1" descr="/home/claude/work/manual/img/hr_bulk_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17320"/>
            <a:ext cx="3931920" cy="24430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26280" y="1417320"/>
            <a:ext cx="3931920" cy="2443033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99628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案内メールの小窓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390607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選択メンバーを一括処理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案内メール（個人別）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686800" y="1783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ステータスのボタン（案内を送付）または操作列の「案内」を押します。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テンプレートを選び、期限・マイページURL・担当窓口を入れます。件名・本文はそのまま直せます。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「送信」を押します。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68680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一括処理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4160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左のチェックで選び、「選択メンバーを一括処理」を押します。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対応区分・メモ・対応期限・次回フォロー予定日・対応完了日をまとめて登録します。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6.4 加入者マイページ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氏名の見出し帯の下に、健診結果・面談・対応・本人とのやり取りをサブタブで分けています。右カラムに時間外・ストレス・写真・メール。</a:t>
            </a:r>
            <a:endParaRPr lang="en-US" sz="1200" dirty="0"/>
          </a:p>
        </p:txBody>
      </p:sp>
      <p:pic>
        <p:nvPicPr>
          <p:cNvPr id="6" name="Image 0" descr="/home/claude/work/manual/img/hr_me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716684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716684" cy="461772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608076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加入者マイページ（健診結果タブ）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加入者健康一覧の氏名または「詳細表示」で開きます。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「健診結果」タブ：労働安全衛生規則の区分ごとの検査値と判定、総合判定の推移。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「面談・対応」タブ：対応の履歴（次のページ）。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右カラム：時間外労働の推移、ストレスチェック、写真の取込、メールのやり取り（「メール送信」から案内も出せます）。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見出し帯の年度で過去の年度に切り替えられます。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6.5 対応の履歴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対応区分の変更・メモ・産業医面談の記録を1件ずつ残します。対応期限・次回フォロー予定日・対応完了日も入れられます。</a:t>
            </a:r>
            <a:endParaRPr lang="en-US" sz="1200" dirty="0"/>
          </a:p>
        </p:txBody>
      </p:sp>
      <p:pic>
        <p:nvPicPr>
          <p:cNvPr id="6" name="Image 0" descr="/home/claude/work/manual/img/hr_member_i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1206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5120640" cy="320040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pic>
        <p:nvPicPr>
          <p:cNvPr id="8" name="Image 1" descr="/home/claude/work/manual/img/hr_member_rec_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114800" cy="355605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35240" y="1417320"/>
            <a:ext cx="4114800" cy="3556053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4663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対応の履歴（面談・対応タブ）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7635240" y="501909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新規作成の小窓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02920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「面談・対応」タブの「対応の履歴」カードで「新規作成」を押します。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種類（メモ／対応区分の変更）を選び、対応区分・メモ・対応期限・次回フォロー予定日・対応完了日を入れて「記録する」を押します。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履歴は日時・種類・担当者・内容・期限予定で1件ずつ並びます。産業医の面談記録もここに出ます。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6.6 メール設定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テンプレートの編集・配信履歴の確認・リマインドをこの画面で行います。個人別・一括の送信は加入者健康一覧から行います。</a:t>
            </a:r>
            <a:endParaRPr lang="en-US" sz="1200" dirty="0"/>
          </a:p>
        </p:txBody>
      </p:sp>
      <p:pic>
        <p:nvPicPr>
          <p:cNvPr id="6" name="Image 0" descr="/home/claude/work/manual/img/mail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28186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2818628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4281668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メール設定（配信設定・配信履歴）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サイドバー「設定サポート」→「メール設定」を開きます（「産業医面談」→「メール配信」からも同じ画面が開きます）。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配信設定：テンプレートを選ぶとプレビューが出ます。差し込み項目（氏名・予約URL・回答期限・年度・受診日・期限・URL・担当窓口）は送信時に置き換わります。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配信履歴：送信日時・氏名・種別・結果・内容。失敗のときは理由が出ます。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リマインド：次のページ。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6.7 リマインド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案内を送ったあと、面談の予約・再検査の結果の提出がない方へ、もう一度案内を送ります。</a:t>
            </a:r>
            <a:endParaRPr lang="en-US" sz="1200" dirty="0"/>
          </a:p>
        </p:txBody>
      </p:sp>
      <p:pic>
        <p:nvPicPr>
          <p:cNvPr id="6" name="Image 0" descr="/home/claude/work/manual/img/mail_rem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34184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341841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488145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リマインド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「リマインド」のカードに返事がない方が並びます。経過日数（3／7／14／30日以上、初期値7日）で絞り込めます。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種別（面談受診勧奨／健康管理のお知らせ）ごとにリマインドのテンプレートを選び、期限・URL・担当窓口を入れます。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送る方にチェックを付け、「選択した方にリマインドを送る」を押します。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配信履歴に「リマインド（n回目）」で残ります。ステータスは変わらず、送った回数だけが増えます。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11277295" cy="594360"/>
          </a:xfrm>
          <a:prstGeom prst="roundRect">
            <a:avLst>
              <a:gd name="adj" fmla="val 12308"/>
            </a:avLst>
          </a:prstGeom>
          <a:solidFill>
            <a:srgbClr val="E6F4F1"/>
          </a:solidFill>
          <a:ln w="9525">
            <a:solidFill>
              <a:srgbClr val="B2DF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562356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テンプレート名に「リマインド」を含むものがリマインド用として選べます。配信テンプレートの編集で追加できます。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6.8 労基署報告（出力）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様式第6号（定期健康診断結果報告書）と様式第6号の2（ストレスチェック）を事業所ごとに作成します。</a:t>
            </a:r>
            <a:endParaRPr lang="en-US" sz="1200" dirty="0"/>
          </a:p>
        </p:txBody>
      </p:sp>
      <p:pic>
        <p:nvPicPr>
          <p:cNvPr id="6" name="Image 0" descr="/home/claude/work/manual/img/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2872461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2872461" cy="384048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30352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労基署報告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サイドバー「報告書」→「労基署報告」を開き、報告対象年度と事業所を選びます。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「社内管理用サマリー」は面談ダッシュボードと同じ形です。上段の5枚のカード（報告対象期間・面談対象・面談実施済・未実施・就業上の措置）と、左の「面接指導 実施報告（様式イメージ）」のタイル、右の「様式に入る事業場の情報」で実施状況を確認します。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事業場の情報（名称・所在地・電話番号）は事業所マスタの内容がそのまま入ります。直すときは事業所マスタで登録し直します。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「提出書類」の左右2枚のプレビューを確認し、右下の「PDF」から「PDFをダウンロード」または「印刷（PDFとして保存）」で出力します。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記名（サイン）は産業医が行います。記名済みになると右上に氏名と日付が出ます。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11277295" cy="594360"/>
          </a:xfrm>
          <a:prstGeom prst="roundRect">
            <a:avLst>
              <a:gd name="adj" fmla="val 12308"/>
            </a:avLst>
          </a:prstGeom>
          <a:solidFill>
            <a:srgbClr val="FFF8E6"/>
          </a:solidFill>
          <a:ln w="9525">
            <a:solidFill>
              <a:srgbClr val="F6E0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562356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5A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ご注意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労働保険番号・事業の種類・実施機関・産業医の欄は提出前に様式へご記入ください。提出前に所轄労働基準監督署の様式・記載要領と内容をご確認ください。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産業医の運用（企業担当者・産業医）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産業医は「面談対象者」「面談結果入力」「報告書」の3つの画面を使います。ハブは使わず、サイドバーから直接開きます。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7.1 面談対象者一覧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面談が必要な方が自動で抽出されます。ステータスのボタンから就業区分を判定します。</a:t>
            </a:r>
            <a:endParaRPr lang="en-US" sz="1200" dirty="0"/>
          </a:p>
        </p:txBody>
      </p:sp>
      <p:pic>
        <p:nvPicPr>
          <p:cNvPr id="6" name="Image 0" descr="/home/claude/work/manual/img/dr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43336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4333685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796725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面談対象者一覧（産業医）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検索条件：加入者ID・氏名／ステータス（未判定・通常勤務・就業制限・要休業）／健診判定。ボタンは再押下で解除。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ステータス：押すと確認・処理の小窓。抽出理由・健診結果・時間外・ストレスを見ながら就業区分を判定します。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操作列：「詳細表示」で加入者マイページ（閲覧）、「面談結果入力」でその方の入力画面へ。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「選択メンバーを一括処理」で就業区分・面談対象の承認・メモをまとめて登録します。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ステータス列と操作列は表の右端に固定されています。画面が狭くて表が横にスクロールしても、ボタンは常に見えます。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7.2 就業区分を判定する（承認）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承認すると、その方の人事・保健師側のステータスは「保健師対応中」に進みます。「承認を取消」で元に戻せます。</a:t>
            </a:r>
            <a:endParaRPr lang="en-US" sz="1200" dirty="0"/>
          </a:p>
        </p:txBody>
      </p:sp>
      <p:pic>
        <p:nvPicPr>
          <p:cNvPr id="6" name="Image 0" descr="/home/claude/work/manual/img/dr_status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023360" cy="3844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4023360" cy="3844544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pic>
        <p:nvPicPr>
          <p:cNvPr id="8" name="Image 1" descr="/home/claude/work/manual/img/dr_bulk_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17320"/>
            <a:ext cx="4023360" cy="33116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17720" y="1417320"/>
            <a:ext cx="4023360" cy="3311672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5307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確認・処理の小窓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4774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選択メンバーを一括処理（産業医）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869680" y="1417320"/>
            <a:ext cx="2834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ステータス列のボタンを押します。小窓に抽出理由と健診・時間外・ストレスの状況が出ます。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就業区分（通常勤務／就業制限／要休業）を選び、「承認する」を押します。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複数の方をまとめて処理するときは、左のチェックで選んで「選択メンバーを一括処理」を押します。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7.3 面談結果入力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見出し帯でだれの入力かを確認し、面談実施情報・措置内容・産業医所見を入れて確定します。就業区分は一覧で判定済みの値が見出し帯に出ます。</a:t>
            </a:r>
            <a:endParaRPr lang="en-US" sz="1200" dirty="0"/>
          </a:p>
        </p:txBody>
      </p:sp>
      <p:pic>
        <p:nvPicPr>
          <p:cNvPr id="6" name="Image 0" descr="/home/claude/work/manual/img/dr_int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5341419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5341419" cy="384048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30352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面談結果入力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面談対象者一覧の「面談結果入力」から、その方の画面を開きます（画面を直接開くと未入力の先頭の方が出ます）。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見出し帯で氏名・ステータス・就業区分（産業医の判定）・抽出理由を確認します。就業区分はこの画面では変えません（面談対象者一覧で判定します）。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実施日・実施方法・次回フォロー予定日、措置内容・産業医所見を入れます。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カード右下の「確定して次の未入力の方へ（残りn名）」を押すと、確定したうえで次の未入力の方の画面に進みます。同じ方の画面にとどまるときは「結果を確定する」。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11277295" cy="594360"/>
          </a:xfrm>
          <a:prstGeom prst="roundRect">
            <a:avLst>
              <a:gd name="adj" fmla="val 12308"/>
            </a:avLst>
          </a:prstGeom>
          <a:solidFill>
            <a:srgbClr val="E6F4F1"/>
          </a:solidFill>
          <a:ln w="9525">
            <a:solidFill>
              <a:srgbClr val="B2DF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562356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下書きはありません（保存＝確定）。確定した内容は労基署報告の社内管理用サマリーに集計され、面談のステータスは「面談完了」になります。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7.4 労基署報告への記名（サイン）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2様式（様式第6号・様式第6号の2）に記名します。出力・提出は人事が行います。</a:t>
            </a:r>
            <a:endParaRPr lang="en-US" sz="1200" dirty="0"/>
          </a:p>
        </p:txBody>
      </p:sp>
      <p:pic>
        <p:nvPicPr>
          <p:cNvPr id="6" name="Image 0" descr="/home/claude/work/manual/img/dr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3423069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3423069" cy="461772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608076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労基署報告（産業医の記名）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サイドバーの「報告書」を開き、報告対象年度・事業所を選びます。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提出書類の2様式のプレビューで内容を確認します。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各様式の下の「記名（産業医）」に氏名を入れ、「記名（サイン）する」を押します。記名は提出用の紙の記名欄に入ります。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取り消すときは「記名を取消」を押します。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保健師の運用（企業担当者・保健師）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保健師は「健康管理」の加入者健康一覧と加入者マイページで、保健指導・受診勧奨と対応の記録を行います。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8.1 保健指導と対応の記録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ステータス「保健師対応中」の方を中心に、保健指導・受診勧奨を行い、対応の履歴に残します。</a:t>
            </a:r>
            <a:endParaRPr lang="en-US" sz="1200" dirty="0"/>
          </a:p>
        </p:txBody>
      </p:sp>
      <p:pic>
        <p:nvPicPr>
          <p:cNvPr id="6" name="Image 0" descr="/home/claude/work/manual/img/ns_health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933895" cy="43336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6933895" cy="4333685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796725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加入者健康一覧（保健師）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加入者健康一覧でステータス「保健師対応中」を押して絞り込みます。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「詳細表示」で加入者マイページを開き、健診結果・検査値を確認します。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「面談・対応」タブの「対応の履歴」→「新規作成」で、保健指導の内容・次回フォロー予定日を残します。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案内が必要な方には、操作列の「案内」から案内メールを送ります。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本人が結果の写真を取り込むと「再検査対応済み」になります。内容を確認して対応の履歴に残します。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加入者本人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ご自身の健康マイページで、健診結果の確認と再検査の結果（写真）の取込を行います。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9.1 健康マイページ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担当者が発行した本人ログインの案内メールからパスワードを設定してログインします。</a:t>
            </a:r>
            <a:endParaRPr lang="en-US" sz="1200" dirty="0"/>
          </a:p>
        </p:txBody>
      </p:sp>
      <p:pic>
        <p:nvPicPr>
          <p:cNvPr id="6" name="Image 0" descr="/home/claude/work/manual/img/me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5586153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00600" y="1417320"/>
            <a:ext cx="5586153" cy="3840480"/>
          </a:xfrm>
          <a:prstGeom prst="rect">
            <a:avLst/>
          </a:prstGeom>
          <a:ln w="9525">
            <a:solidFill>
              <a:srgbClr val="CBD5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530352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　健康マイページ（本人）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ログインすると健康マイページが開きます。見出しはご自身の氏名です。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健診結果（○○年度の検査値）・総合判定の推移を確認します。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再検査を受けたら、右カラムの「写真の取込」から結果の写真をアップロードします。取込日時が記録され、プレビューで確認できます。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C7A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「メールのやり取り」で、担当者からの案内の履歴を確認できます。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11277295" cy="594360"/>
          </a:xfrm>
          <a:prstGeom prst="roundRect">
            <a:avLst>
              <a:gd name="adj" fmla="val 12308"/>
            </a:avLst>
          </a:prstGeom>
          <a:solidFill>
            <a:srgbClr val="FFF8E6"/>
          </a:solidFill>
          <a:ln w="9525">
            <a:solidFill>
              <a:srgbClr val="F6E0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5623560"/>
            <a:ext cx="110029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5A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ご注意　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担当者用のメモ・対応区分の変更はご本人の画面には表示されません。写真を取り込むと、担当者側のステータスは「再検査対応済み」に進みます。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付録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判定区分（健保共通の初期値）／面談ワークフローのステータス／用語／よくある質問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10.1 判定区分（健保共通の初期値）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日本人間ドック学会の判定区分（2026年4月1日改定）。A 異常なし／B 軽度異常／C 要再検査・生活改善／D 要精密検査・治療。主な項目を抜粋。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194560"/>
                <a:gridCol w="21945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BMI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18.5〜24.9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〜18.4／25.0〜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収縮期血圧（mmHg）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〜129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130〜139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140〜159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160〜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拡張期血圧（mmHg）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〜84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85〜89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90〜99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中性脂肪（mg/dL）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30〜149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150〜299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300〜499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〜29／500〜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HDLコレステロール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30〜39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〜29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LDLコレステロール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60〜119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120〜139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140〜179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〜59／180〜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AST（GOT）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〜30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31〜35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36〜50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ALT（GPT）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〜30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31〜40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41〜50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γ-GT（γ-GTP）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〜50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51〜80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81〜100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101〜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空腹時血糖（mg/dL）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70〜99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100〜109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110〜125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〜69／126〜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HbA1c（NGSP値）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〜5.5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5.6〜5.9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6.0〜6.4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6.5〜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eGFR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60.0〜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45.0〜59.9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〜44.9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血清尿酸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2.1〜7.0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7.1〜7.9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〜2.0／8.0〜8.9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9.0〜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空腹時血糖とHbA1cは、学会では2つの値を組み合わせて判定しますが、本システムでは項目ごとの目安として登録しています。判定は参考情報で、最終判断は産業医・医師が行います。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 用語と面談ワークフローのステータス</a:t>
            </a:r>
            <a:endParaRPr lang="en-US" sz="2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用語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加入者ID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本システムで採番する加入者の番号（8桁）。被保険者証番号・社員番号とは別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抽出理由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面談・対応が必要と判断した根拠。基準値を超えた検査値、長時間労働、高ストレスなど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対応区分（ステータス）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加入者ごとの対応の進み具合。7区分（6.1を参照）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就業区分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産業医の判定。通常勤務・就業制限・要休業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様式第6号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定期健康診断結果報告書。事業所ごとに労働基準監督署へ提出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様式第6号の2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心理的な負担の程度を把握するための検査結果等報告書（ストレスチェック）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outbox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メールの送信設定が無いとき、送るはずだったメールの控えが保存されるフォルダー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面談ワークフロー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面談候補（自動抽出）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健診C以上・時間外80時間超・高ストレスのいずれかで自動的に抽出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産業医確認待ち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産業医の承認を待っている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面談対象（承認済）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産業医が面談対象と承認した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勧奨メール送信済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面談受診勧奨のメールを送った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面談予約済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面談の予約が入った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面談完了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面談結果を確定した（労基署報告に集計）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HIA健保管理・HIA総合管理 操作マニュアル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10.3 よくある質問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質問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答え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ステータスのボタンが押せません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ラベルだけの列は押せません。人事・保健師は加入者健康一覧、産業医は面談対象者一覧のステータス列がボタンです。権限がないロールではラベルになります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メールを送ったのに届きません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送信設定（SMTP）が未登録のときは outbox フォルダーに控えが保存されます。配信履歴の「内容」欄に理由が出ます。宛先のメールアドレスの登録もご確認ください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判定マスタを変えたのに一覧の判定が変わりません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取り込み済みの健診結果の判定は変わりません。データ取込の「判定マスタを反映」で付け直せます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労基署報告の事業場の名称が空です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「社内管理用サマリー」の事業所のプルダウンで事業所を選んでください。「すべての事業所」では空欄になります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産業医が労基署報告を開けません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産業医のサイドバー「報告書」から開けます。開けない場合は機能制御の「労基署報告の閲覧・出力」をご確認ください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リマインドに出てこない方がいます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経過日数（初期値7日以上）を短くしてください。返事が確認できた方（面談予約済・再検査対応済み）は出ません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5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D1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画面の使い方・設定のご相談は、当社担当までご連絡ください。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株式会社くすりの窓口　未病予防事業部　／　ビルド 2.1.0　／　2026年9月16日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HIA健保管理・HIA総合管理 操作マニュアル</dc:title>
  <dc:subject>PptxGenJS Presentation</dc:subject>
  <dc:creator>株式会社くすりの窓口 未病予防事業部</dc:creator>
  <cp:lastModifiedBy>株式会社くすりの窓口 未病予防事業部</cp:lastModifiedBy>
  <cp:revision>1</cp:revision>
  <dcterms:created xsi:type="dcterms:W3CDTF">2026-09-16T01:47:47Z</dcterms:created>
  <dcterms:modified xsi:type="dcterms:W3CDTF">2026-09-16T01:47:47Z</dcterms:modified>
</cp:coreProperties>
</file>